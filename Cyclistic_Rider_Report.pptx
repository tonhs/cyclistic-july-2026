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76F51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370</c:v>
                </c:pt>
                <c:pt idx="1">
                  <c:v>340</c:v>
                </c:pt>
                <c:pt idx="2">
                  <c:v>260</c:v>
                </c:pt>
                <c:pt idx="3">
                  <c:v>210</c:v>
                </c:pt>
                <c:pt idx="4">
                  <c:v>130</c:v>
                </c:pt>
                <c:pt idx="5">
                  <c:v>70</c:v>
                </c:pt>
                <c:pt idx="6">
                  <c:v>55</c:v>
                </c:pt>
                <c:pt idx="7">
                  <c:v>60</c:v>
                </c:pt>
                <c:pt idx="8">
                  <c:v>110</c:v>
                </c:pt>
                <c:pt idx="9">
                  <c:v>210</c:v>
                </c:pt>
                <c:pt idx="10">
                  <c:v>300</c:v>
                </c:pt>
                <c:pt idx="11">
                  <c:v>340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1E5FB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520</c:v>
                </c:pt>
                <c:pt idx="1">
                  <c:v>500</c:v>
                </c:pt>
                <c:pt idx="2">
                  <c:v>460</c:v>
                </c:pt>
                <c:pt idx="3">
                  <c:v>430</c:v>
                </c:pt>
                <c:pt idx="4">
                  <c:v>300</c:v>
                </c:pt>
                <c:pt idx="5">
                  <c:v>200</c:v>
                </c:pt>
                <c:pt idx="6">
                  <c:v>180</c:v>
                </c:pt>
                <c:pt idx="7">
                  <c:v>190</c:v>
                </c:pt>
                <c:pt idx="8">
                  <c:v>260</c:v>
                </c:pt>
                <c:pt idx="9">
                  <c:v>380</c:v>
                </c:pt>
                <c:pt idx="10">
                  <c:v>460</c:v>
                </c:pt>
                <c:pt idx="11">
                  <c:v>490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&quot;K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0F172A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76F51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230</c:v>
                </c:pt>
                <c:pt idx="1">
                  <c:v>250</c:v>
                </c:pt>
                <c:pt idx="2">
                  <c:v>260</c:v>
                </c:pt>
                <c:pt idx="3">
                  <c:v>270</c:v>
                </c:pt>
                <c:pt idx="4">
                  <c:v>320</c:v>
                </c:pt>
                <c:pt idx="5">
                  <c:v>460</c:v>
                </c:pt>
                <c:pt idx="6">
                  <c:v>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1E5FB8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560</c:v>
                </c:pt>
                <c:pt idx="1">
                  <c:v>590</c:v>
                </c:pt>
                <c:pt idx="2">
                  <c:v>600</c:v>
                </c:pt>
                <c:pt idx="3">
                  <c:v>590</c:v>
                </c:pt>
                <c:pt idx="4">
                  <c:v>560</c:v>
                </c:pt>
                <c:pt idx="5">
                  <c:v>480</c:v>
                </c:pt>
                <c:pt idx="6">
                  <c:v>440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&quot;K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0F172A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73152" cy="219456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CYCLISTIC  —  RIDER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0F172A"/>
                </a:solidFill>
                <a:latin typeface="Calibri Light"/>
              </a:rPr>
              <a:t>Where the growth is,
and who to convert.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4748B"/>
                </a:solidFill>
                <a:latin typeface="Calibri"/>
              </a:rPr>
              <a:t>An executive read on 12 months of ride data — July 2025 through June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Prepared for the executive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806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5.93M rides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F172A"/>
                </a:solidFill>
                <a:latin typeface="Calibri Light"/>
              </a:rPr>
              <a:t>Members drive volume. Casual riders are a weekend, warm-weather, tourist-shaped
growth opportunity.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7" y="3200400"/>
            <a:ext cx="3566160" cy="127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447" y="338328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1E5FB8"/>
                </a:solidFill>
                <a:latin typeface="Calibri Light"/>
              </a:rPr>
              <a:t>36%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4617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of rides came from casual riders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51663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The other 64% came from members. Casual is a real, measurable third of the 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767" y="3200400"/>
            <a:ext cx="3566160" cy="127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338328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0F172A"/>
                </a:solidFill>
                <a:latin typeface="Calibri Light"/>
              </a:rPr>
              <a:t>+74%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767" y="4617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longer average ride for casual riders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2767" y="51663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21.7 min vs 12.5 min. Casual behaviour looks leisurely; member behaviour looks purposeful.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087" y="3200400"/>
            <a:ext cx="3566160" cy="127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338328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0F172A"/>
                </a:solidFill>
                <a:latin typeface="Calibri Light"/>
              </a:rPr>
              <a:t>~2×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4617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casual rides start at tourist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087" y="51663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Navy Pier, Millennium Park and lakefront stations dominate casual starts.
Member starts cluster around downtown commute corridors.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WHO'S RIDING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One in three rides today is from someone we haven't yet converted.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0" i="0">
                <a:solidFill>
                  <a:srgbClr val="E76F51"/>
                </a:solidFill>
                <a:latin typeface="Calibri Light"/>
              </a:rPr>
              <a:t>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92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of rides were from casual riders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2.12M rides over 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200400"/>
            <a:ext cx="1975104" cy="6400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01584" y="3200400"/>
            <a:ext cx="3511296" cy="6400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834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76F51"/>
                </a:solidFill>
                <a:latin typeface="Calibri"/>
              </a:rPr>
              <a:t>CASUAL  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2834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E5FB8"/>
                </a:solidFill>
                <a:latin typeface="Calibri"/>
              </a:rPr>
              <a:t>MEMBER  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023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2,116,622 casual rides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97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3,815,692 member 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8920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Members are the majority — but 36% is far too large a share to treat as background noise.
If even a fraction of casual rides become member rides, the shift shows up in the revenue 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WHEN THEY RIDE —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Summer is when the casual base swells. Members ride year-round.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468880"/>
          <a:ext cx="10908792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Member volume clears 400K rides/month May through October.  Casual volume clears 300K only in June, July and August — a tight, seasonal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WHEN THEY RIDE —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Members ride Monday to Friday. Casual riders ride Saturday and Sunday.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468880"/>
          <a:ext cx="68580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2468880"/>
            <a:ext cx="3794760" cy="1554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2468880"/>
            <a:ext cx="38100" cy="15544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60604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5FB8"/>
                </a:solidFill>
                <a:latin typeface="Calibri"/>
              </a:rPr>
              <a:t>MEMBER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88036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 Light"/>
              </a:rPr>
              <a:t>Commute-shaped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29184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Weekday volume 25-40% above the weekend. Strong AM and PM spikes on hourly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206240"/>
            <a:ext cx="3794760" cy="1554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4206240"/>
            <a:ext cx="38100" cy="1554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34340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76F51"/>
                </a:solidFill>
                <a:latin typeface="Calibri"/>
              </a:rPr>
              <a:t>CASUAL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61772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 Light"/>
              </a:rPr>
              <a:t>Weekend-shaped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0292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Saturday is the biggest day. Sunday and Friday close behind. Midweek is quiet.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HOW LONG THEY 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Casual rides last roughly 75% longer — they're outings, not errands.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76F51"/>
                </a:solidFill>
                <a:latin typeface="Calibri"/>
              </a:rPr>
              <a:t>CASUAL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0" b="0" i="0">
                <a:solidFill>
                  <a:srgbClr val="E76F51"/>
                </a:solidFill>
                <a:latin typeface="Calibri Light"/>
              </a:rPr>
              <a:t>21.7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minutes on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Median 11.2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834640"/>
            <a:ext cx="6350" cy="24688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5FB8"/>
                </a:solidFill>
                <a:latin typeface="Calibri"/>
              </a:rPr>
              <a:t>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0" b="0" i="0">
                <a:solidFill>
                  <a:srgbClr val="1E5FB8"/>
                </a:solidFill>
                <a:latin typeface="Calibri Light"/>
              </a:rPr>
              <a:t>12.5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minutes on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Median 8.6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The pattern holds on both the average and the median, so it's not driven by a handful of long trips.  It looks like different jobs to be done — A-to-B for members, a loop for casuals.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WHAT THEY CHOOSE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Both audiences pick electric bikes over classic — roughly two to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76F51"/>
                </a:solidFill>
                <a:latin typeface="Calibri"/>
              </a:rPr>
              <a:t>CASUAL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Electric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127248"/>
            <a:ext cx="3657600" cy="25603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31089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1,481,697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Classic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630168"/>
            <a:ext cx="1567303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7543" y="3611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634,916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Casual riders take ~2.3× more electric than classic.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5FB8"/>
                </a:solidFill>
                <a:latin typeface="Calibri"/>
              </a:rPr>
              <a:t>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Electric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127248"/>
            <a:ext cx="3657600" cy="256032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31089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2,530,747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Classic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630168"/>
            <a:ext cx="1857057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897" y="3611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1,284,925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Members take ~2.0× more electric than classic.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10908792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Electric preference is universal, not casual-specific. Fleet mix, pricing and marketing should treat electric as the default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WHERE CASUAL RIDES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Casual demand concentrates at lakefront tourist spots.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0604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2211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Navy Pier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804414"/>
            <a:ext cx="3657600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272211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46,800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42742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103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DuSable Lake Shore Dr &amp; Monroe 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243326"/>
            <a:ext cx="2566728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316103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32,842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81654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9994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Michigan Ave &amp; Oak 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82238"/>
            <a:ext cx="1788394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359994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22,883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0566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3885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DuSable Lake Shore Dr &amp; North Blvd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21150"/>
            <a:ext cx="1579411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403885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20,209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59478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7776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Millennium Park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560062"/>
            <a:ext cx="1447331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447776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18,519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9839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667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Shedd Aquarium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98974"/>
            <a:ext cx="1346512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491667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17,229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37302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559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Theater on the Lake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437886"/>
            <a:ext cx="1268593" cy="1828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535559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16,232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776214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These are destinations, not commutes — leisure demand, weekends and warm weather.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WHERE MEMBER RIDES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Member demand concentrates at downtown commute nodes.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0604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2211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Canal St &amp; Madison 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804414"/>
            <a:ext cx="3657600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04120" y="272211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22,808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42742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103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State St &amp; Chicago 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243326"/>
            <a:ext cx="3397488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316103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21,186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81654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9994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Clinton St &amp; Madison 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82238"/>
            <a:ext cx="3190136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359994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19,893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0566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3885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Wells St &amp; Concord Ln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21150"/>
            <a:ext cx="3132084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403885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19,531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59478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7776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Wells St &amp; Elm 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560062"/>
            <a:ext cx="3129037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447776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19,512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9839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1667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Clinton St &amp; Washington Blvd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98974"/>
            <a:ext cx="3116529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491667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19,434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37302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559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Clinton St &amp; Jackson Blvd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5437886"/>
            <a:ext cx="3091993" cy="18288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535559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19,281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776214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Loop and near-north commuter corridors — the top member station attracts less than half the demand of Navy Pier.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THE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Two customers using the same bikes for two different jobs.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38100" cy="365760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5FB8"/>
                </a:solidFill>
                <a:latin typeface="Calibri"/>
              </a:rPr>
              <a:t>THE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 Light"/>
              </a:rPr>
              <a:t>Weekday commuter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64% of rides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Peak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343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Tuesday - Thursday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46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12.5 min average • short and purposeful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349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Loop and near-north commute corridors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Season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852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Rides year-round, peaks in summer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68880"/>
            <a:ext cx="38100" cy="36576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468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76F51"/>
                </a:solidFill>
                <a:latin typeface="Calibri"/>
              </a:rPr>
              <a:t>THE CASUAL RIDER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889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 Light"/>
              </a:rPr>
              <a:t>Weekend visitor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40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36% of 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43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Peak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43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Saturday and Sunday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46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21.7 min average • leisurely, loop-shaped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349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Starts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49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Navy Pier, lakefront, museums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852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Season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852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Concentrated June - August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The conversion pitch to a Chicago commuter is a different pitch than the one to a summer visitor.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08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F172A"/>
                </a:solidFill>
                <a:latin typeface="Calibri Light"/>
              </a:rPr>
              <a:t>A three-pillar program to convert weekend visitors into year-round members.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7" y="2468880"/>
            <a:ext cx="3566160" cy="1905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447" y="2697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5FB8"/>
                </a:solidFill>
                <a:latin typeface="Calibri L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35204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0F172A"/>
                </a:solidFill>
                <a:latin typeface="Calibri Light"/>
              </a:rPr>
              <a:t>Meet them at the destination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480060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Partner with lakefront destinations — Navy Pier, Millennium Park, the Shedd — to offer member-only perks (discounts, priority queues, combo passes). Turn the reason they're already riding into a reason to sign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767" y="2468880"/>
            <a:ext cx="3566160" cy="1905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2697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5FB8"/>
                </a:solidFill>
                <a:latin typeface="Calibri 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767" y="35204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0F172A"/>
                </a:solidFill>
                <a:latin typeface="Calibri Light"/>
              </a:rPr>
              <a:t>Own the summer weekend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2767" y="480060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Warm-weather, weekend-only promotions built around the moments when casual demand actually spikes: seasonal membership tiers, first-month-free from June, and neighbourhood ‘day-out’ route bundles.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087" y="2468880"/>
            <a:ext cx="3566160" cy="19050"/>
          </a:xfrm>
          <a:prstGeom prst="rect">
            <a:avLst/>
          </a:prstGeom>
          <a:solidFill>
            <a:srgbClr val="1E5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2697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E5FB8"/>
                </a:solidFill>
                <a:latin typeface="Calibri L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5204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0F172A"/>
                </a:solidFill>
                <a:latin typeface="Calibri Light"/>
              </a:rPr>
              <a:t>Build a reason to come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087" y="480060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Curated group rides and social outings — a monthly member ride to a brewery, a sunset lakefront route, a partner event. Casual riders convert when membership offers something a punch-card can’t: belonging.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Cyclistic  •  Rider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7272" y="6565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